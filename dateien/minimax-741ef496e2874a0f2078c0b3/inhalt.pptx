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bochum.blogspot.com/2026/10/eigenleistung-beim-holzbau-was.html" TargetMode="External"/><Relationship Id="rId3" Type="http://schemas.openxmlformats.org/officeDocument/2006/relationships/hyperlink" Target="https://holzundhaus.github.io/1aholzbaubochum/dateien/minimax-741ef496e2874a0f2078c0b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beim Holzbau: was Bauherren sinnvoll vorbereiten können · Erklärende Präsentation</a:t>
            </a:r>
          </a:p>
        </p:txBody>
      </p:sp>
      <p:sp>
        <p:nvSpPr>
          <p:cNvPr id="3" name="Content Placeholder 2"/>
          <p:cNvSpPr>
            <a:spLocks noGrp="1"/>
          </p:cNvSpPr>
          <p:nvPr>
            <p:ph idx="1"/>
          </p:nvPr>
        </p:nvSpPr>
        <p:spPr/>
        <p:txBody>
          <a:bodyPr/>
          <a:lstStyle/>
          <a:p>
            <a:r>
              <a:t>Überblick: Ein Holzbau in Bochum wird dann leichter, wenn Bauherren ihre Eigenleistung nicht nach Bauchgefühl, sondern nach einem klaren Ablauf planen. Der entscheidende Gedanke lautet: Eigene Arbeiten sollen den Fachbetrieb vorbereiten, seine Leistungen dokumentierbar machen und den Bauablauf unterstützen – ohne Tragwerk, Verbindungen oder Witterungsschutz zu verändern. Die folgende Orientierung zeigt, welche Fragen vor der Anfrage geklärt, welche Vorbereitungen sinnvoll sind und wo die Grenze zur zimmermannsmäßigen Arbeit liegt.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Projektanfrage als Planungsinstrument</a:t>
            </a:r>
          </a:p>
        </p:txBody>
      </p:sp>
      <p:sp>
        <p:nvSpPr>
          <p:cNvPr id="3" name="Content Placeholder 2"/>
          <p:cNvSpPr>
            <a:spLocks noGrp="1"/>
          </p:cNvSpPr>
          <p:nvPr>
            <p:ph idx="1"/>
          </p:nvPr>
        </p:nvSpPr>
        <p:spPr/>
        <p:txBody>
          <a:bodyPr/>
          <a:lstStyle/>
          <a:p>
            <a:pPr>
              <a:defRPr sz="1800"/>
            </a:pPr>
            <a:r>
              <a:t>Die Projektanfrage ist mehr als eine Kontaktaufnahme. Sie strukturiert das Vorhaben und macht sichtbar, was vor Ort geprüft werden muss. Dafür sollten Bauherren drei Angaben vorbereiten: Ziel und Nutzung, Bestand und Maße sowie offene Fragen. Ziel und Nutzung beschreiben, welcher Raum entsteht und wie er später genutzt wird. Zum Bestand gehören Fotos, vorhandene Grundrisse und die Maße relevanter Bauteile. Offene Fragen können beispielsweise Genehmigung, Konstruktion, Zeitrahmen und Material betreffen.</a:t>
            </a:r>
          </a:p>
          <a:p>
            <a:pPr>
              <a:defRPr sz="1800"/>
            </a:pPr>
          </a:p>
          <a:p>
            <a:pPr>
              <a:defRPr sz="1800"/>
            </a:pPr>
            <a:r>
              <a:t>Diese Informationen lassen sich auf der Website in der Projektanfrage einordnen. Sie ersetzen weder die fachliche Planung noch eine Beratung,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Projektanfrage als Planungsinstrument</a:t>
            </a:r>
          </a:p>
        </p:txBody>
      </p:sp>
      <p:sp>
        <p:nvSpPr>
          <p:cNvPr id="3" name="Content Placeholder 2"/>
          <p:cNvSpPr>
            <a:spLocks noGrp="1"/>
          </p:cNvSpPr>
          <p:nvPr>
            <p:ph idx="1"/>
          </p:nvPr>
        </p:nvSpPr>
        <p:spPr/>
        <p:txBody>
          <a:bodyPr/>
          <a:lstStyle/>
          <a:p>
            <a:pPr>
              <a:defRPr sz="1800"/>
            </a:pPr>
            <a:r>
              <a:t> helfen aber, Rückfragen präziser und konkreter zu beantworten. Besonders hilfreich ist, wenn jede Unterlage ihren Zweck erkennbar macht: Ein Foto zeigt den vorhandenen Anschluss, ein Grundriss erklärt die Geometrie und ein Maß verdeutlicht den verfügbaren Raum.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Genehmigungsfragen frühzeitig eingrenzen</a:t>
            </a:r>
          </a:p>
        </p:txBody>
      </p:sp>
      <p:sp>
        <p:nvSpPr>
          <p:cNvPr id="3" name="Content Placeholder 2"/>
          <p:cNvSpPr>
            <a:spLocks noGrp="1"/>
          </p:cNvSpPr>
          <p:nvPr>
            <p:ph idx="1"/>
          </p:nvPr>
        </p:nvSpPr>
        <p:spPr/>
        <p:txBody>
          <a:bodyPr/>
          <a:lstStyle/>
          <a:p>
            <a:pPr>
              <a:defRPr sz="1800"/>
            </a:pPr>
            <a:r>
              <a:t>Bei Carports, Anbauten oder Aufstockungen ist vor der Planung häufig offen, ob ein Bauantrag erforderlich ist. Bauherren müssen diese Frage nicht allein durch eine allgemeine Internetrecherche beantworten. Die Stadt Bochum erläutert Bauanträge und Genehmigungen; ergänzend kann die Bauberatung im Baubürgerbüro offene Punkte eingrenzen. Die fachliche Bauberatung ersetzen.</a:t>
            </a:r>
          </a:p>
          <a:p>
            <a:pPr>
              <a:defRPr sz="1800"/>
            </a:pPr>
          </a:p>
          <a:p>
            <a:pPr>
              <a:defRPr sz="1800"/>
            </a:pPr>
            <a:r>
              <a:t>Sinnvoll ist die Vorbereitung deshalb mit einer kurzen Fragenliste. Diese kann festhalten, welche bauliche Veränderung geplant ist, welche Unterlagen bereits vorliegen und welche Aspekte noch ungeklärt sind. So muss im Beratungsgespräch nicht erst der gesamte Sachverhalt reko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Genehmigungsfragen frühzeitig eingrenzen</a:t>
            </a:r>
          </a:p>
        </p:txBody>
      </p:sp>
      <p:sp>
        <p:nvSpPr>
          <p:cNvPr id="3" name="Content Placeholder 2"/>
          <p:cNvSpPr>
            <a:spLocks noGrp="1"/>
          </p:cNvSpPr>
          <p:nvPr>
            <p:ph idx="1"/>
          </p:nvPr>
        </p:nvSpPr>
        <p:spPr/>
        <p:txBody>
          <a:bodyPr/>
          <a:lstStyle/>
          <a:p>
            <a:pPr>
              <a:defRPr sz="1800"/>
            </a:pPr>
            <a:r>
              <a:t>nstruiert werden. Die eigentliche Entscheidung über Genehmigungsfähigkeit und Ausführung bleibt bei den zuständigen Stellen und dem Fachbetrieb.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den Zimmerarbeiten vorbereitet werden kann</a:t>
            </a:r>
          </a:p>
        </p:txBody>
      </p:sp>
      <p:sp>
        <p:nvSpPr>
          <p:cNvPr id="3" name="Content Placeholder 2"/>
          <p:cNvSpPr>
            <a:spLocks noGrp="1"/>
          </p:cNvSpPr>
          <p:nvPr>
            <p:ph idx="1"/>
          </p:nvPr>
        </p:nvSpPr>
        <p:spPr/>
        <p:txBody>
          <a:bodyPr/>
          <a:lstStyle/>
          <a:p>
            <a:pPr>
              <a:defRPr sz="1800"/>
            </a:pPr>
            <a:r>
              <a:t>Der Arbeitsbereich sollte zugänglich und übersichtlich sein. Dazu gehören das Freiräumen von Möbeln und Pflanzen, das Entfernen alter, nicht mehr benötigter Beläge sowie einfache Demontagearbeiten an nicht tragenden Bauteilen. Alte Verkleidungen, lose Bretter oder Bodenbeläge können vorbereitet werden, sofern dadurch keine konstruktiven oder witterungsrelevanten Elemente beschädigt werden.</a:t>
            </a:r>
          </a:p>
          <a:p>
            <a:pPr>
              <a:defRPr sz="1800"/>
            </a:pPr>
          </a:p>
          <a:p>
            <a:pPr>
              <a:defRPr sz="1800"/>
            </a:pPr>
            <a:r>
              <a:t>Ergänzend gehört zur Vorbereitung eine sorgfältige Bestandsaufnahme. Fotos von Anschlüssen, Leitungen, Höhenlagen und angrenzenden Bauteilen schaffen eine gemeinsame Grundlage für die spätere Arbeit. Wege sollten frei bleiben und ausreichend Platz für Mate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den Zimmerarbeiten vorbereitet werden kann</a:t>
            </a:r>
          </a:p>
        </p:txBody>
      </p:sp>
      <p:sp>
        <p:nvSpPr>
          <p:cNvPr id="3" name="Content Placeholder 2"/>
          <p:cNvSpPr>
            <a:spLocks noGrp="1"/>
          </p:cNvSpPr>
          <p:nvPr>
            <p:ph idx="1"/>
          </p:nvPr>
        </p:nvSpPr>
        <p:spPr/>
        <p:txBody>
          <a:bodyPr/>
          <a:lstStyle/>
          <a:p>
            <a:pPr>
              <a:defRPr sz="1800"/>
            </a:pPr>
            <a:r>
              <a:t>rial sowie Fahrzeuge vorhanden sein. Diese Maßnahmen erleichtern den Zugang und machen sichtbar, wo besondere Anforderungen bestehen.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klare Grenze der Eigenleistung</a:t>
            </a:r>
          </a:p>
        </p:txBody>
      </p:sp>
      <p:sp>
        <p:nvSpPr>
          <p:cNvPr id="3" name="Content Placeholder 2"/>
          <p:cNvSpPr>
            <a:spLocks noGrp="1"/>
          </p:cNvSpPr>
          <p:nvPr>
            <p:ph idx="1"/>
          </p:nvPr>
        </p:nvSpPr>
        <p:spPr/>
        <p:txBody>
          <a:bodyPr/>
          <a:lstStyle/>
          <a:p>
            <a:pPr>
              <a:defRPr sz="1800"/>
            </a:pPr>
            <a:r>
              <a:t>Die Grenze wird erreicht, sobald selbsttragende Teile betroffen sind. Dachstuhl, Sparren, Pfetten und zimmermannsmäßige Verbindungen gehören ebenso zum Fachbereich wie Holzrahmenbau und Aufstockungen in tragender Ausführung, die Konstruktion und Ausfachung von Fachwerk sowie Anschlüsse an die Gebäudehülle, die den Witterungsschutz sicherstellen. Diese Arbeiten erfordern statische Nachweise, Erfahrung mit Holzverbindungen und Kenntnis der einschlägigen Regeln.</a:t>
            </a:r>
          </a:p>
          <a:p>
            <a:pPr>
              <a:defRPr sz="1800"/>
            </a:pPr>
          </a:p>
          <a:p>
            <a:pPr>
              <a:defRPr sz="1800"/>
            </a:pPr>
            <a:r>
              <a:t>Deshalb sollte die eigene Vorbereitung ausdrücklich bei Planung, Dokumentation, Zugänglichkeit und nicht tragenden Arbeiten enden. Zweifel sind kein Grund, die Grenze selbst zu testen.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klare Grenze der Eigenleistung</a:t>
            </a:r>
          </a:p>
        </p:txBody>
      </p:sp>
      <p:sp>
        <p:nvSpPr>
          <p:cNvPr id="3" name="Content Placeholder 2"/>
          <p:cNvSpPr>
            <a:spLocks noGrp="1"/>
          </p:cNvSpPr>
          <p:nvPr>
            <p:ph idx="1"/>
          </p:nvPr>
        </p:nvSpPr>
        <p:spPr/>
        <p:txBody>
          <a:bodyPr/>
          <a:lstStyle/>
          <a:p>
            <a:pPr>
              <a:defRPr sz="1800"/>
            </a:pPr>
            <a:r>
              <a:t>Die Projektanfrage auf der Website bietet den geeigneten Rahmen, um den vorgesehenen Eigenanteil zu benennen und offen zu klären, welche Arbeiten sinnvoll sind und welche dem Fachbetrieb vorbehalten bleiben.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Nacharbeiten kontrollieren und Unterlagen pflegen</a:t>
            </a:r>
          </a:p>
        </p:txBody>
      </p:sp>
      <p:sp>
        <p:nvSpPr>
          <p:cNvPr id="3" name="Content Placeholder 2"/>
          <p:cNvSpPr>
            <a:spLocks noGrp="1"/>
          </p:cNvSpPr>
          <p:nvPr>
            <p:ph idx="1"/>
          </p:nvPr>
        </p:nvSpPr>
        <p:spPr/>
        <p:txBody>
          <a:bodyPr/>
          <a:lstStyle/>
          <a:p>
            <a:pPr>
              <a:defRPr sz="1800"/>
            </a:pPr>
            <a:r>
              <a:t>Nach Abschluss der Zimmerarbeiten entstehen neue, gut abgegrenzte Möglichkeiten der Eigenleistung. In den ersten Wochen nach Fertigstellung können Bauherren Anschlüsse und Holzflächen im Rahmen einer Sichtkontrolle beobachten. Auffälligkeiten lassen sich dabei festhalten, ohne eigenständig in die Konstruktion einzugreifen.</a:t>
            </a:r>
          </a:p>
          <a:p>
            <a:pPr>
              <a:defRPr sz="1800"/>
            </a:pPr>
          </a:p>
          <a:p>
            <a:pPr>
              <a:defRPr sz="1800"/>
            </a:pPr>
            <a:r>
              <a:t>Auch die Dokumentation der ausgeführten Arbeiten, Maße und Materialien ist ein sinnvoller eigener Beitrag. Sie schafft eine verständliche Grundlage für die eigene Unterlage und erleichtert spätere Abstimmungen. Außerdem können Folgegewerke vorbereitet werden, etwa Malerarbeiten, Innenausbau oder Elektrik, sofern sie die Ko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Nacharbeiten kontrollieren und Unterlagen pflegen</a:t>
            </a:r>
          </a:p>
        </p:txBody>
      </p:sp>
      <p:sp>
        <p:nvSpPr>
          <p:cNvPr id="3" name="Content Placeholder 2"/>
          <p:cNvSpPr>
            <a:spLocks noGrp="1"/>
          </p:cNvSpPr>
          <p:nvPr>
            <p:ph idx="1"/>
          </p:nvPr>
        </p:nvSpPr>
        <p:spPr/>
        <p:txBody>
          <a:bodyPr/>
          <a:lstStyle/>
          <a:p>
            <a:pPr>
              <a:defRPr sz="1800"/>
            </a:pPr>
            <a:r>
              <a:t>nstruktion nicht verändern. Entscheidend bleibt durchgehend dieselbe Regel: Eigenleistung ergänzt die Fachplanung und Ausführung, ersetzt sie aber nicht.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Eigenleistung beim Holzbau: was Bauherren sinnvoll vorbereiten können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