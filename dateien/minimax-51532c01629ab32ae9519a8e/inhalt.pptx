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1aholzbaubochum/holzbau-nachhaltigkeit-bochum-einordnung/" TargetMode="External"/><Relationship Id="rId3" Type="http://schemas.openxmlformats.org/officeDocument/2006/relationships/hyperlink" Target="https://holzundhaus.github.io/1aholzbaubochum/dateien/minimax-51532c01629ab32ae9519a8e/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Holzbau und Nachhaltigkeit in Bochum: Was sich realistisch einordnen lässt · Erklärende Präsentation</a:t>
            </a:r>
          </a:p>
        </p:txBody>
      </p:sp>
      <p:sp>
        <p:nvSpPr>
          <p:cNvPr id="3" name="Content Placeholder 2"/>
          <p:cNvSpPr>
            <a:spLocks noGrp="1"/>
          </p:cNvSpPr>
          <p:nvPr>
            <p:ph idx="1"/>
          </p:nvPr>
        </p:nvSpPr>
        <p:spPr/>
        <p:txBody>
          <a:bodyPr/>
          <a:lstStyle/>
          <a:p>
            <a:r>
              <a:t>Überblick: Wer in Bochum ein Holzbauvorhaben plant, erhält schnell Begriffe wie nachhaltig, CO₂-speichernd oder kreislauffähig. Diese Aussagen können als Einstieg dienen, beantworten aber nicht die wichtigste Frage: Welche nachhaltigen Effekte entstehen bei einem konkreten Bauvorhaben tatsächlich und wo liegen die Unsicherheiten? Ein belastbarer Vergleich betrachtet deshalb nicht nur die Bauweise, sondern auch Rohstoffherkunft, Transport, Vorfertigung, Nutzung und Rückbau. Der folgende Leitfaden strukturiert diese Fragen für das erste Gespräch mit einem Holzbaubetrieb und hilft dabei, Angebote und Projektunterlagen gezielt zu prüfen.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die Nachhaltigkeit im Holzbau konkret bedeutet</a:t>
            </a:r>
          </a:p>
        </p:txBody>
      </p:sp>
      <p:sp>
        <p:nvSpPr>
          <p:cNvPr id="3" name="Content Placeholder 2"/>
          <p:cNvSpPr>
            <a:spLocks noGrp="1"/>
          </p:cNvSpPr>
          <p:nvPr>
            <p:ph idx="1"/>
          </p:nvPr>
        </p:nvSpPr>
        <p:spPr/>
        <p:txBody>
          <a:bodyPr/>
          <a:lstStyle/>
          <a:p>
            <a:pPr>
              <a:defRPr sz="1800"/>
            </a:pPr>
            <a:r>
              <a:t>Holz ist ein nachwachsender Rohstoff, doch daraus lässt sich nicht automatisch ableiten, dass jedes Holzbauvorhaben in gleichem Maße klimaschonend ist. Die Bewertung beginnt beim Einsatz bestimmter Holzsorten, deren Herkunft und der Art der Forstwirtschaft. Ebenso wichtig sind die Verarbeitung, Transportwege, die geplante Nutzungsdauer und die spätere possibility der Weiterverwendung. Gerade die Verknüpfung dieser Faktoren macht den Unterschied zu Massivbau, Stahl- oder Mauerwerksbauweise aus. Für die eigene Einordnung bietet sich die Einordnung von Holzbau und Nachhaltigkeit in Bochum an. Sie ersetzt keine fachliche Projektbewertung, liefert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die Nachhaltigkeit im Holzbau konkret bedeutet</a:t>
            </a:r>
          </a:p>
        </p:txBody>
      </p:sp>
      <p:sp>
        <p:nvSpPr>
          <p:cNvPr id="3" name="Content Placeholder 2"/>
          <p:cNvSpPr>
            <a:spLocks noGrp="1"/>
          </p:cNvSpPr>
          <p:nvPr>
            <p:ph idx="1"/>
          </p:nvPr>
        </p:nvSpPr>
        <p:spPr/>
        <p:txBody>
          <a:bodyPr/>
          <a:lstStyle/>
          <a:p>
            <a:pPr>
              <a:defRPr sz="1800"/>
            </a:pPr>
            <a:r>
              <a:t> aber eine nachvollziehbare Ausgangsbasis für die ersten Fragen.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Herkunft, Transport und Lieferkette prüfen</a:t>
            </a:r>
          </a:p>
        </p:txBody>
      </p:sp>
      <p:sp>
        <p:nvSpPr>
          <p:cNvPr id="3" name="Content Placeholder 2"/>
          <p:cNvSpPr>
            <a:spLocks noGrp="1"/>
          </p:cNvSpPr>
          <p:nvPr>
            <p:ph idx="1"/>
          </p:nvPr>
        </p:nvSpPr>
        <p:spPr/>
        <p:txBody>
          <a:bodyPr/>
          <a:lstStyle/>
          <a:p>
            <a:pPr>
              <a:defRPr sz="1800"/>
            </a:pPr>
            <a:r>
              <a:t>Fragen Sie bereits im Erstgespräch, aus welcher Region das eingesetzte Holz stammt und welche Sorten verwendet werden. Im Ruhrgebiet können Holzbauteile aus heimischer Bewirtschaftung vergleichsweise kurze Transportwege haben. Viele im Holzbau übliche Sortimente, insbesondere bestimmte Nadelhölzer, werden jedoch ganzjährig auch aus anderen Regionen bezogen. Entscheidend ist daher nicht pauschal die Nähe des Betriebs, sondern die konkrete Lieferkette des angebotenen Projekts. Lassen Sie sich die Herkunft des Materials sowie relevante Transportabschnitte erläutern. Eine regionale Verbindung allein genügt nicht als Nachweis. Sie ist vor allem da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Herkunft, Transport und Lieferkette prüfen</a:t>
            </a:r>
          </a:p>
        </p:txBody>
      </p:sp>
      <p:sp>
        <p:nvSpPr>
          <p:cNvPr id="3" name="Content Placeholder 2"/>
          <p:cNvSpPr>
            <a:spLocks noGrp="1"/>
          </p:cNvSpPr>
          <p:nvPr>
            <p:ph idx="1"/>
          </p:nvPr>
        </p:nvSpPr>
        <p:spPr/>
        <p:txBody>
          <a:bodyPr/>
          <a:lstStyle/>
          <a:p>
            <a:pPr>
              <a:defRPr sz="1800"/>
            </a:pPr>
            <a:r>
              <a:t>nn hilfreich, wenn auch die übrigen Punkte – Holzart, Bearbeitung, Konstruktion und Nutzung – in das Projekt passen.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Vorfertigung verstehen und nicht nur nutzen</a:t>
            </a:r>
          </a:p>
        </p:txBody>
      </p:sp>
      <p:sp>
        <p:nvSpPr>
          <p:cNvPr id="3" name="Content Placeholder 2"/>
          <p:cNvSpPr>
            <a:spLocks noGrp="1"/>
          </p:cNvSpPr>
          <p:nvPr>
            <p:ph idx="1"/>
          </p:nvPr>
        </p:nvSpPr>
        <p:spPr/>
        <p:txBody>
          <a:bodyPr/>
          <a:lstStyle/>
          <a:p>
            <a:pPr>
              <a:defRPr sz="1800"/>
            </a:pPr>
            <a:r>
              <a:t>Ein häufig genannter Vorteil des Holzbaus ist die Vorfertigung im Werk. Elemente für Dachstuhl, Holzrahmenbau oder Carport können trocken und maßgenau hergestellt werden. Das kann die Zeit auf der Baustelle verkürzen und Abfall reduzieren. Vorfertigung verlangt dafür eine früh abgestimmte Planung: Maße, Anschlüsse und Details müssen vor der Produktion feststehen. Für Bauherren ist wichtig zu klären, welche Elemente tatsächlich vorgefertigt werden, welche Arbeiten auf der Baustelle erfolgen und wie Schnittstellen zwischen Holzbau, Gebäudehülle und technischer Ausstattung gelöst sind. Die Hinweise zu Holzrahmenbau, Anbau und Aufstockung zeigen,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Vorfertigung verstehen und nicht nur nutzen</a:t>
            </a:r>
          </a:p>
        </p:txBody>
      </p:sp>
      <p:sp>
        <p:nvSpPr>
          <p:cNvPr id="3" name="Content Placeholder 2"/>
          <p:cNvSpPr>
            <a:spLocks noGrp="1"/>
          </p:cNvSpPr>
          <p:nvPr>
            <p:ph idx="1"/>
          </p:nvPr>
        </p:nvSpPr>
        <p:spPr/>
        <p:txBody>
          <a:bodyPr/>
          <a:lstStyle/>
          <a:p>
            <a:pPr>
              <a:defRPr sz="1800"/>
            </a:pPr>
            <a:r>
              <a:t> dass diese Bereiche bereits vor der Ausführung zusammengedacht werden sollten. Das macht das Vorgehen planbarer und schafft Vergleichspunkte für unterschiedliche Angebote.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Langlebigkeit und Rückbau im Angebot prüfen</a:t>
            </a:r>
          </a:p>
        </p:txBody>
      </p:sp>
      <p:sp>
        <p:nvSpPr>
          <p:cNvPr id="3" name="Content Placeholder 2"/>
          <p:cNvSpPr>
            <a:spLocks noGrp="1"/>
          </p:cNvSpPr>
          <p:nvPr>
            <p:ph idx="1"/>
          </p:nvPr>
        </p:nvSpPr>
        <p:spPr/>
        <p:txBody>
          <a:bodyPr/>
          <a:lstStyle/>
          <a:p>
            <a:pPr>
              <a:defRPr sz="1800"/>
            </a:pPr>
            <a:r>
              <a:t>Langlebige Holzkonstruktionen, etwa ein neuer Dachstuhl, können das im Holz gespeicherte Kohlenstoffdioxid über Jahrzehnte binden. Kurze Produktlebenszyklen oder minderwertige Außenbauteile können diesen Effekt relativieren. Achten Sie deshalb auf konstruktive Details, die Feuchtigkeit, Witterung und Austausch von Bauteilen berücksichtigen. Auch Rückbaubarkeit hängt nicht allein von der Bauweise ab, sondern von Beschichtungen, Verbindungen und der konstruktiven Ausführung. Eine sortenreife Trennbarkeit kann die spätere Weiterverwendung erleichtern, ist aber keine automatische Eigenschaft jedes Projekts. Lassen Sie sich diese Aspekte in der Pr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Langlebigkeit und Rückbau im Angebot prüfen</a:t>
            </a:r>
          </a:p>
        </p:txBody>
      </p:sp>
      <p:sp>
        <p:nvSpPr>
          <p:cNvPr id="3" name="Content Placeholder 2"/>
          <p:cNvSpPr>
            <a:spLocks noGrp="1"/>
          </p:cNvSpPr>
          <p:nvPr>
            <p:ph idx="1"/>
          </p:nvPr>
        </p:nvSpPr>
        <p:spPr/>
        <p:txBody>
          <a:bodyPr/>
          <a:lstStyle/>
          <a:p>
            <a:pPr>
              <a:defRPr sz="1800"/>
            </a:pPr>
            <a:r>
              <a:t>ojektbeschreibung oder im Angebot erläutern. Wenn Angaben fehlen, ist das eine sinnvolle Stelle für Rückfragen, bevor eine Entscheidung getroffen wird.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Checkliste für die eigene Anfrage</a:t>
            </a:r>
          </a:p>
        </p:txBody>
      </p:sp>
      <p:sp>
        <p:nvSpPr>
          <p:cNvPr id="3" name="Content Placeholder 2"/>
          <p:cNvSpPr>
            <a:spLocks noGrp="1"/>
          </p:cNvSpPr>
          <p:nvPr>
            <p:ph idx="1"/>
          </p:nvPr>
        </p:nvSpPr>
        <p:spPr/>
        <p:txBody>
          <a:bodyPr/>
          <a:lstStyle/>
          <a:p>
            <a:pPr>
              <a:defRPr sz="1800"/>
            </a:pPr>
            <a:r>
              <a:t>Bevor Sie ein Angebot anfordern, halten Sie Ihre Anforderungen an Dach, Außenbereich, Bestand und Gebäudehülle fest. Formulieren Sie anschließend konkrete Fragen: Welche Holzsorten und Herkunftsangaben werden genannt? Welche Transport- und Vorfertigungsschritte sind vorgesehen? Wie sind Langlebigkeit, Beschichtungen und Anschlüsse gelöst? Welche Maßnahmen ermöglichen einen späteren Rückbau? Diese Fragen verbinden die Nachhaltigkeitsbetrachtung mit der praktischen Projektplanung. Die ergänzende Projektvorbereitung für Holzbauvorhaben kann helfen, die Anforderungen vor der Anfrage zu strukturieren, statt sich zu früh auf ein einzelnes Material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Checkliste für die eigene Anfrage</a:t>
            </a:r>
          </a:p>
        </p:txBody>
      </p:sp>
      <p:sp>
        <p:nvSpPr>
          <p:cNvPr id="3" name="Content Placeholder 2"/>
          <p:cNvSpPr>
            <a:spLocks noGrp="1"/>
          </p:cNvSpPr>
          <p:nvPr>
            <p:ph idx="1"/>
          </p:nvPr>
        </p:nvSpPr>
        <p:spPr/>
        <p:txBody>
          <a:bodyPr/>
          <a:lstStyle/>
          <a:p>
            <a:pPr>
              <a:defRPr sz="1800"/>
            </a:pPr>
            <a:r>
              <a:t>festzulegen. So wird aus einer allgemeinen Nachhaltigkeitsabsicht eine nachvollziehbare Grundlage für Angebote und ein fachliches Gespräch.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Holzbau und Nachhaltigkeit in Bochum: Was sich realistisch einordnen lässt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